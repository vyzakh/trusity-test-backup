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Etna Sans Serif" charset="1" panose="02000600000000000000"/>
      <p:regular r:id="rId18"/>
    </p:embeddedFont>
    <p:embeddedFont>
      <p:font typeface="Arial Nova" charset="1" panose="020B05040202020202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12.png" Type="http://schemas.openxmlformats.org/officeDocument/2006/relationships/image"/><Relationship Id="rId9" Target="../media/image1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9.png" Type="http://schemas.openxmlformats.org/officeDocument/2006/relationships/image"/><Relationship Id="rId4" Target="../media/image2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8555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3688072">
            <a:off x="9616496" y="-3262037"/>
            <a:ext cx="12318385" cy="10638606"/>
          </a:xfrm>
          <a:custGeom>
            <a:avLst/>
            <a:gdLst/>
            <a:ahLst/>
            <a:cxnLst/>
            <a:rect r="r" b="b" t="t" l="l"/>
            <a:pathLst>
              <a:path h="10638606" w="12318385">
                <a:moveTo>
                  <a:pt x="0" y="0"/>
                </a:moveTo>
                <a:lnTo>
                  <a:pt x="12318386" y="0"/>
                </a:lnTo>
                <a:lnTo>
                  <a:pt x="12318386" y="10638605"/>
                </a:lnTo>
                <a:lnTo>
                  <a:pt x="0" y="106386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7213610">
            <a:off x="8743789" y="6931719"/>
            <a:ext cx="8218320" cy="7097640"/>
          </a:xfrm>
          <a:custGeom>
            <a:avLst/>
            <a:gdLst/>
            <a:ahLst/>
            <a:cxnLst/>
            <a:rect r="r" b="b" t="t" l="l"/>
            <a:pathLst>
              <a:path h="7097640" w="8218320">
                <a:moveTo>
                  <a:pt x="0" y="0"/>
                </a:moveTo>
                <a:lnTo>
                  <a:pt x="8218320" y="0"/>
                </a:lnTo>
                <a:lnTo>
                  <a:pt x="8218320" y="7097640"/>
                </a:lnTo>
                <a:lnTo>
                  <a:pt x="0" y="70976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458574" y="1201399"/>
            <a:ext cx="7002397" cy="2314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4"/>
              </a:lnSpc>
              <a:spcBef>
                <a:spcPct val="0"/>
              </a:spcBef>
            </a:pPr>
            <a:r>
              <a:rPr lang="en-US" sz="13510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Startup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58574" y="3325205"/>
            <a:ext cx="7002397" cy="1724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137"/>
              </a:lnSpc>
              <a:spcBef>
                <a:spcPct val="0"/>
              </a:spcBef>
            </a:pPr>
            <a:r>
              <a:rPr lang="en-US" sz="10098">
                <a:solidFill>
                  <a:srgbClr val="000000"/>
                </a:solidFill>
                <a:latin typeface="Arial Nova"/>
                <a:ea typeface="Arial Nova"/>
                <a:cs typeface="Arial Nova"/>
                <a:sym typeface="Arial Nova"/>
              </a:rPr>
              <a:t>Pitch Deck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58574" y="7165361"/>
            <a:ext cx="6259403" cy="1663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Arial Nova"/>
                <a:ea typeface="Arial Nova"/>
                <a:cs typeface="Arial Nova"/>
                <a:sym typeface="Arial Nova"/>
              </a:rPr>
              <a:t>EduNext Innovations</a:t>
            </a:r>
          </a:p>
        </p:txBody>
      </p:sp>
      <p:sp>
        <p:nvSpPr>
          <p:cNvPr id="1758601117706" name="Table 1758601117706"/>
          <p:cNvSpPr>
            <a:spLocks noGrp="1"/>
          </p:cNvSpPr>
          <p:nvPr/>
        </p:nvSpPr>
        <p:spPr>
          <a:xfrm>
            <a:off x="1000000" y="1500000"/>
            <a:ext cx="4300000" cy="3500000"/>
          </a:xfrm>
          <a:prstGeom prst="rect">
            <a:avLst/>
          </a:prstGeom>
          <a:noFill/>
        </p:spPr>
        <p:txBody>
          <a:bodyPr/>
          <a:lstStyle/>
          <a:tbl>
            <a:tblPr firstRow="1" firstCol="0" lastRow="0" lastCol="0" bandRow="0" bandCol="0">
              <a:tableStyleId>{5C22544A-7EE6-4342-B048-85BDC9FD1C3A}</a:tableStyleId>
            </a:tblPr>
            <a:tblGrid>
              <a:gridCol w="2400000"/>
              <a:gridCol w="1600000"/>
            </a:tblGrid>
            <a:tr h="300000">
              <a:tc>
                <a:txBody>
                  <a:bodyPr anchor="ctr" anchorCtr="1" lIns="91440" tIns="18288" rIns="91440" bIns="18288"/>
                  <a:lstStyle/>
                  <a:p algn="ctr">
                    <a:pPr marL="0" marR="0" indent="0"/>
                    <a:r>
                      <a:rPr lang="en-US" sz="1400" b="1" dirty="0" smtClean="0">
                        <a:solidFill>
                          <a:srgbClr val="000000"/>
                        </a:solidFill>
                      </a:rPr>
                      <a:t>CAPEX</a:t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  <a:tc>
                <a:txBody>
                  <a:bodyPr anchor="ctr" anchorCtr="1" lIns="91440" tIns="18288" rIns="91440" bIns="18288"/>
                  <a:lstStyle/>
                  <a:p algn="ctr">
                    <a:pPr marL="0" marR="0" indent="0"/>
                    <a:r>
                      <a:rPr lang="en-US" sz="1400" b="1" dirty="0" smtClean="0">
                        <a:solidFill>
                          <a:srgbClr val="000000"/>
                        </a:solidFill>
                      </a:rPr>
                      <a:t>Cost (USD)</a:t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</a:tr>
            <a:tr h="260000">
              <a:tc>
                <a:txBody>
                  <a:bodyPr anchor="ctr" anchorCtr="1" lIns="91440" tIns="18288" rIns="91440" bIns="18288"/>
                  <a:lstStyle/>
                  <a:p algn="l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>Platform Development</a:t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  <a:tc>
                <a:txBody>
                  <a:bodyPr anchor="ctr" anchorCtr="1" lIns="91440" tIns="18288" rIns="91440" bIns="18288"/>
                  <a:lstStyle/>
                  <a:p algn="r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>USD 50,000</a:t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</a:tr>
            <a:tr h="260000">
              <a:tc>
                <a:txBody>
                  <a:bodyPr anchor="ctr" anchorCtr="1" lIns="91440" tIns="18288" rIns="91440" bIns="18288"/>
                  <a:lstStyle/>
                  <a:p algn="l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>Server Infrastructure</a:t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  <a:tc>
                <a:txBody>
                  <a:bodyPr anchor="ctr" anchorCtr="1" lIns="91440" tIns="18288" rIns="91440" bIns="18288"/>
                  <a:lstStyle/>
                  <a:p algn="r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>USD 20,000</a:t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</a:tr>
            <a:tr h="260000">
              <a:tc>
                <a:txBody>
                  <a:bodyPr anchor="ctr" anchorCtr="1" lIns="91440" tIns="18288" rIns="91440" bIns="18288"/>
                  <a:lstStyle/>
                  <a:p algn="l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>Server Infrastructure 369</a:t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  <a:tc>
                <a:txBody>
                  <a:bodyPr anchor="ctr" anchorCtr="1" lIns="91440" tIns="18288" rIns="91440" bIns="18288"/>
                  <a:lstStyle/>
                  <a:p algn="r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>USD 9,20,000</a:t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</a:tr>
            <a:tr h="260000">
              <a:tc>
                <a:txBody>
                  <a:bodyPr anchor="ctr" anchorCtr="1" lIns="91440" tIns="18288" rIns="91440" bIns="18288"/>
                  <a:lstStyle/>
                  <a:p algn="l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/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  <a:tc>
                <a:txBody>
                  <a:bodyPr anchor="ctr" anchorCtr="1" lIns="91440" tIns="18288" rIns="91440" bIns="18288"/>
                  <a:lstStyle/>
                  <a:p algn="r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/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</a:tr>
            <a:tr h="260000">
              <a:tc>
                <a:txBody>
                  <a:bodyPr anchor="ctr" anchorCtr="1" lIns="91440" tIns="18288" rIns="91440" bIns="18288"/>
                  <a:lstStyle/>
                  <a:p algn="l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/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  <a:tc>
                <a:txBody>
                  <a:bodyPr anchor="ctr" anchorCtr="1" lIns="91440" tIns="18288" rIns="91440" bIns="18288"/>
                  <a:lstStyle/>
                  <a:p algn="r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/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</a:tr>
            <a:tr h="260000">
              <a:tc>
                <a:txBody>
                  <a:bodyPr anchor="ctr" anchorCtr="1" lIns="91440" tIns="18288" rIns="91440" bIns="18288"/>
                  <a:lstStyle/>
                  <a:p algn="l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/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  <a:tc>
                <a:txBody>
                  <a:bodyPr anchor="ctr" anchorCtr="1" lIns="91440" tIns="18288" rIns="91440" bIns="18288"/>
                  <a:lstStyle/>
                  <a:p algn="r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/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</a:tr>
            <a:tr h="260000">
              <a:tc>
                <a:txBody>
                  <a:bodyPr anchor="ctr" anchorCtr="1" lIns="91440" tIns="18288" rIns="91440" bIns="18288"/>
                  <a:lstStyle/>
                  <a:p algn="l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/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  <a:tc>
                <a:txBody>
                  <a:bodyPr anchor="ctr" anchorCtr="1" lIns="91440" tIns="18288" rIns="91440" bIns="18288"/>
                  <a:lstStyle/>
                  <a:p algn="r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/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</a:tr>
          </a:tbl>
        </p:txBody>
      </p:sp>
      <p:sp>
        <p:nvSpPr>
          <p:cNvPr id="1758601117706" name="Table 1758601117706"/>
          <p:cNvSpPr>
            <a:spLocks noGrp="1"/>
          </p:cNvSpPr>
          <p:nvPr/>
        </p:nvSpPr>
        <p:spPr>
          <a:xfrm>
            <a:off x="5000000" y="1500000"/>
            <a:ext cx="4300000" cy="3500000"/>
          </a:xfrm>
          <a:prstGeom prst="rect">
            <a:avLst/>
          </a:prstGeom>
          <a:noFill/>
        </p:spPr>
        <p:txBody>
          <a:bodyPr/>
          <a:lstStyle/>
          <a:tbl>
            <a:tblPr firstRow="1" firstCol="0" lastRow="0" lastCol="0" bandRow="0" bandCol="0">
              <a:tableStyleId>{5C22544A-7EE6-4342-B048-85BDC9FD1C3A}</a:tableStyleId>
            </a:tblPr>
            <a:tblGrid>
              <a:gridCol w="2400000"/>
              <a:gridCol w="1600000"/>
            </a:tblGrid>
            <a:tr h="300000">
              <a:tc>
                <a:txBody>
                  <a:bodyPr anchor="ctr" anchorCtr="1" lIns="91440" tIns="18288" rIns="91440" bIns="18288"/>
                  <a:lstStyle/>
                  <a:p algn="ctr">
                    <a:pPr marL="0" marR="0" indent="0"/>
                    <a:r>
                      <a:rPr lang="en-US" sz="1400" b="1" dirty="0" smtClean="0">
                        <a:solidFill>
                          <a:srgbClr val="000000"/>
                        </a:solidFill>
                      </a:rPr>
                      <a:t>OPEX</a:t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  <a:tc>
                <a:txBody>
                  <a:bodyPr anchor="ctr" anchorCtr="1" lIns="91440" tIns="18288" rIns="91440" bIns="18288"/>
                  <a:lstStyle/>
                  <a:p algn="ctr">
                    <a:pPr marL="0" marR="0" indent="0"/>
                    <a:r>
                      <a:rPr lang="en-US" sz="1400" b="1" dirty="0" smtClean="0">
                        <a:solidFill>
                          <a:srgbClr val="000000"/>
                        </a:solidFill>
                      </a:rPr>
                      <a:t>Cost (USD)</a:t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</a:tr>
            <a:tr h="260000">
              <a:tc>
                <a:txBody>
                  <a:bodyPr anchor="ctr" anchorCtr="1" lIns="91440" tIns="18288" rIns="91440" bIns="18288"/>
                  <a:lstStyle/>
                  <a:p algn="l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>M1 - y1</a:t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  <a:tc>
                <a:txBody>
                  <a:bodyPr anchor="ctr" anchorCtr="1" lIns="91440" tIns="18288" rIns="91440" bIns="18288"/>
                  <a:lstStyle/>
                  <a:p algn="r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>USD 10,000</a:t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</a:tr>
            <a:tr h="260000">
              <a:tc>
                <a:txBody>
                  <a:bodyPr anchor="ctr" anchorCtr="1" lIns="91440" tIns="18288" rIns="91440" bIns="18288"/>
                  <a:lstStyle/>
                  <a:p algn="l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>M1 - y2</a:t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  <a:tc>
                <a:txBody>
                  <a:bodyPr anchor="ctr" anchorCtr="1" lIns="91440" tIns="18288" rIns="91440" bIns="18288"/>
                  <a:lstStyle/>
                  <a:p algn="r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>USD 12,000</a:t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</a:tr>
            <a:tr h="260000">
              <a:tc>
                <a:txBody>
                  <a:bodyPr anchor="ctr" anchorCtr="1" lIns="91440" tIns="18288" rIns="91440" bIns="18288"/>
                  <a:lstStyle/>
                  <a:p algn="l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>M1 - y3</a:t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  <a:tc>
                <a:txBody>
                  <a:bodyPr anchor="ctr" anchorCtr="1" lIns="91440" tIns="18288" rIns="91440" bIns="18288"/>
                  <a:lstStyle/>
                  <a:p algn="r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>USD 15,000</a:t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</a:tr>
            <a:tr h="260000">
              <a:tc>
                <a:txBody>
                  <a:bodyPr anchor="ctr" anchorCtr="1" lIns="91440" tIns="18288" rIns="91440" bIns="18288"/>
                  <a:lstStyle/>
                  <a:p algn="l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>M1 - y4</a:t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  <a:tc>
                <a:txBody>
                  <a:bodyPr anchor="ctr" anchorCtr="1" lIns="91440" tIns="18288" rIns="91440" bIns="18288"/>
                  <a:lstStyle/>
                  <a:p algn="r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>USD 18,000</a:t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</a:tr>
            <a:tr h="260000">
              <a:tc>
                <a:txBody>
                  <a:bodyPr anchor="ctr" anchorCtr="1" lIns="91440" tIns="18288" rIns="91440" bIns="18288"/>
                  <a:lstStyle/>
                  <a:p algn="l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>M1 - y5</a:t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  <a:tc>
                <a:txBody>
                  <a:bodyPr anchor="ctr" anchorCtr="1" lIns="91440" tIns="18288" rIns="91440" bIns="18288"/>
                  <a:lstStyle/>
                  <a:p algn="r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>USD 20,000</a:t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</a:tr>
            <a:tr h="260000">
              <a:tc>
                <a:txBody>
                  <a:bodyPr anchor="ctr" anchorCtr="1" lIns="91440" tIns="18288" rIns="91440" bIns="18288"/>
                  <a:lstStyle/>
                  <a:p algn="l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>M2 - y1</a:t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  <a:tc>
                <a:txBody>
                  <a:bodyPr anchor="ctr" anchorCtr="1" lIns="91440" tIns="18288" rIns="91440" bIns="18288"/>
                  <a:lstStyle/>
                  <a:p algn="r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>USD 5,000</a:t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</a:tr>
            <a:tr h="260000">
              <a:tc>
                <a:txBody>
                  <a:bodyPr anchor="ctr" anchorCtr="1" lIns="91440" tIns="18288" rIns="91440" bIns="18288"/>
                  <a:lstStyle/>
                  <a:p algn="l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>M2 - y2</a:t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  <a:tc>
                <a:txBody>
                  <a:bodyPr anchor="ctr" anchorCtr="1" lIns="91440" tIns="18288" rIns="91440" bIns="18288"/>
                  <a:lstStyle/>
                  <a:p algn="r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>USD 7,000</a:t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</a:tr>
            <a:tr h="260000">
              <a:tc>
                <a:txBody>
                  <a:bodyPr anchor="ctr" anchorCtr="1" lIns="91440" tIns="18288" rIns="91440" bIns="18288"/>
                  <a:lstStyle/>
                  <a:p algn="l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>M2 - y3</a:t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  <a:tc>
                <a:txBody>
                  <a:bodyPr anchor="ctr" anchorCtr="1" lIns="91440" tIns="18288" rIns="91440" bIns="18288"/>
                  <a:lstStyle/>
                  <a:p algn="r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>USD 9,000</a:t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</a:tr>
          </a:tbl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831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8929063" cy="10287000"/>
            <a:chOff x="0" y="0"/>
            <a:chExt cx="11905417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26536" t="0" r="12812" b="0"/>
            <a:stretch>
              <a:fillRect/>
            </a:stretch>
          </p:blipFill>
          <p:spPr>
            <a:xfrm flipH="false" flipV="false">
              <a:off x="0" y="0"/>
              <a:ext cx="11905417" cy="13716000"/>
            </a:xfrm>
            <a:prstGeom prst="rect">
              <a:avLst/>
            </a:prstGeom>
          </p:spPr>
        </p:pic>
      </p:grpSp>
      <p:sp>
        <p:nvSpPr>
          <p:cNvPr name="TextBox 4" id="4"/>
          <p:cNvSpPr txBox="true"/>
          <p:nvPr/>
        </p:nvSpPr>
        <p:spPr>
          <a:xfrm rot="0">
            <a:off x="9589924" y="5969417"/>
            <a:ext cx="5069008" cy="1045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39"/>
              </a:lnSpc>
              <a:spcBef>
                <a:spcPct val="0"/>
              </a:spcBef>
            </a:pPr>
            <a:r>
              <a:rPr lang="en-US" sz="6099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Problem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589924" y="7226492"/>
            <a:ext cx="6024436" cy="1663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Arial Nova"/>
                <a:ea typeface="Arial Nova"/>
                <a:cs typeface="Arial Nova"/>
                <a:sym typeface="Arial Nova"/>
              </a:rPr>
              <a:t>Students often lack practical exposure, while industries struggle to find talent ready for innovation.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89924" y="1045018"/>
            <a:ext cx="4348354" cy="3241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9"/>
              </a:lnSpc>
              <a:spcBef>
                <a:spcPct val="0"/>
              </a:spcBef>
            </a:pPr>
            <a:r>
              <a:rPr lang="en-US" sz="18999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3831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951360" y="1427685"/>
            <a:ext cx="3807489" cy="1045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39"/>
              </a:lnSpc>
              <a:spcBef>
                <a:spcPct val="0"/>
              </a:spcBef>
            </a:pPr>
            <a:r>
              <a:rPr lang="en-US" sz="6099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Solution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951360" y="2684759"/>
            <a:ext cx="6084508" cy="1663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Arial Nova"/>
                <a:ea typeface="Arial Nova"/>
                <a:cs typeface="Arial Nova"/>
                <a:sym typeface="Arial Nova"/>
              </a:rPr>
              <a:t>EduNext Innovations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58574" y="1106149"/>
            <a:ext cx="4348354" cy="3241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9"/>
              </a:lnSpc>
              <a:spcBef>
                <a:spcPct val="0"/>
              </a:spcBef>
            </a:pPr>
            <a:r>
              <a:rPr lang="en-US" sz="18999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02</a:t>
            </a:r>
          </a:p>
        </p:txBody>
      </p:sp>
      <p:sp>
        <p:nvSpPr>
          <p:cNvPr name="AutoShape 5" id="5"/>
          <p:cNvSpPr/>
          <p:nvPr/>
        </p:nvSpPr>
        <p:spPr>
          <a:xfrm>
            <a:off x="4474115" y="1459321"/>
            <a:ext cx="0" cy="2888503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600950" y="0"/>
            <a:ext cx="11019046" cy="10454710"/>
            <a:chOff x="0" y="0"/>
            <a:chExt cx="2902136" cy="27535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02136" cy="2753504"/>
            </a:xfrm>
            <a:custGeom>
              <a:avLst/>
              <a:gdLst/>
              <a:ahLst/>
              <a:cxnLst/>
              <a:rect r="r" b="b" t="t" l="l"/>
              <a:pathLst>
                <a:path h="2753504" w="2902136">
                  <a:moveTo>
                    <a:pt x="0" y="0"/>
                  </a:moveTo>
                  <a:lnTo>
                    <a:pt x="2902136" y="0"/>
                  </a:lnTo>
                  <a:lnTo>
                    <a:pt x="2902136" y="2753504"/>
                  </a:lnTo>
                  <a:lnTo>
                    <a:pt x="0" y="275350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902136" cy="27916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458574" y="5019675"/>
            <a:ext cx="5069008" cy="1045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39"/>
              </a:lnSpc>
              <a:spcBef>
                <a:spcPct val="0"/>
              </a:spcBef>
            </a:pPr>
            <a:r>
              <a:rPr lang="en-US" sz="6099">
                <a:latin typeface="Etna Sans Serif"/>
                <a:ea typeface="Etna Sans Serif"/>
                <a:cs typeface="Etna Sans Serif"/>
                <a:sym typeface="Etna Sans Serif"/>
              </a:rPr>
              <a:t>A working prototype with real-time project collaboration and mentor feedback is live.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58574" y="1106149"/>
            <a:ext cx="4348354" cy="3241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9"/>
              </a:lnSpc>
              <a:spcBef>
                <a:spcPct val="0"/>
              </a:spcBef>
            </a:pPr>
            <a:r>
              <a:rPr lang="en-US" sz="18999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886127" y="1028700"/>
            <a:ext cx="12352120" cy="8229600"/>
          </a:xfrm>
          <a:custGeom>
            <a:avLst/>
            <a:gdLst/>
            <a:ahLst/>
            <a:cxnLst/>
            <a:rect r="r" b="b" t="t" l="l"/>
            <a:pathLst>
              <a:path h="8229600" w="12352120">
                <a:moveTo>
                  <a:pt x="0" y="0"/>
                </a:moveTo>
                <a:lnTo>
                  <a:pt x="12352120" y="0"/>
                </a:lnTo>
                <a:lnTo>
                  <a:pt x="1235212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705918"/>
            <a:ext cx="10427554" cy="1045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39"/>
              </a:lnSpc>
              <a:spcBef>
                <a:spcPct val="0"/>
              </a:spcBef>
            </a:pPr>
            <a:r>
              <a:rPr lang="en-US" sz="6099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Target Market &amp; Our pilot programs have achieved 90% satisfaction from both students and faculty.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006112"/>
            <a:ext cx="3598408" cy="2920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Arial Nova"/>
                <a:ea typeface="Arial Nova"/>
                <a:cs typeface="Arial Nova"/>
                <a:sym typeface="Arial Nova"/>
              </a:rPr>
              <a:t>EduNext Innovations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32999" y="6876661"/>
            <a:ext cx="4348354" cy="3241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9"/>
              </a:lnSpc>
              <a:spcBef>
                <a:spcPct val="0"/>
              </a:spcBef>
            </a:pPr>
            <a:r>
              <a:rPr lang="en-US" sz="18999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04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937323" y="3006112"/>
            <a:ext cx="3598408" cy="2920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Arial Nova"/>
                <a:ea typeface="Arial Nova"/>
                <a:cs typeface="Arial Nova"/>
                <a:sym typeface="Arial Nova"/>
              </a:rPr>
              <a:t>EduNext Innovations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49421" y="0"/>
            <a:ext cx="9510482" cy="10287000"/>
            <a:chOff x="0" y="0"/>
            <a:chExt cx="2504818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04818" cy="2709333"/>
            </a:xfrm>
            <a:custGeom>
              <a:avLst/>
              <a:gdLst/>
              <a:ahLst/>
              <a:cxnLst/>
              <a:rect r="r" b="b" t="t" l="l"/>
              <a:pathLst>
                <a:path h="2709333" w="2504818">
                  <a:moveTo>
                    <a:pt x="0" y="0"/>
                  </a:moveTo>
                  <a:lnTo>
                    <a:pt x="2504818" y="0"/>
                  </a:lnTo>
                  <a:lnTo>
                    <a:pt x="250481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100C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504818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49421" y="0"/>
            <a:ext cx="9510482" cy="4603171"/>
            <a:chOff x="0" y="0"/>
            <a:chExt cx="2504818" cy="12123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04818" cy="1212358"/>
            </a:xfrm>
            <a:custGeom>
              <a:avLst/>
              <a:gdLst/>
              <a:ahLst/>
              <a:cxnLst/>
              <a:rect r="r" b="b" t="t" l="l"/>
              <a:pathLst>
                <a:path h="1212358" w="2504818">
                  <a:moveTo>
                    <a:pt x="0" y="0"/>
                  </a:moveTo>
                  <a:lnTo>
                    <a:pt x="2504818" y="0"/>
                  </a:lnTo>
                  <a:lnTo>
                    <a:pt x="2504818" y="1212358"/>
                  </a:lnTo>
                  <a:lnTo>
                    <a:pt x="0" y="1212358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504818" cy="1250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 rot="5400000">
            <a:off x="1458574" y="5195889"/>
            <a:ext cx="5836233" cy="0"/>
          </a:xfrm>
          <a:prstGeom prst="line">
            <a:avLst/>
          </a:prstGeom>
          <a:ln cap="flat" w="47625">
            <a:solidFill>
              <a:srgbClr val="2100C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rot="0">
            <a:off x="1458574" y="5095875"/>
            <a:ext cx="5836233" cy="0"/>
          </a:xfrm>
          <a:prstGeom prst="line">
            <a:avLst/>
          </a:prstGeom>
          <a:ln cap="flat" w="47625">
            <a:solidFill>
              <a:srgbClr val="2100C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2031068" y="3082871"/>
            <a:ext cx="1639167" cy="1372803"/>
          </a:xfrm>
          <a:custGeom>
            <a:avLst/>
            <a:gdLst/>
            <a:ahLst/>
            <a:cxnLst/>
            <a:rect r="r" b="b" t="t" l="l"/>
            <a:pathLst>
              <a:path h="1372803" w="1639167">
                <a:moveTo>
                  <a:pt x="0" y="0"/>
                </a:moveTo>
                <a:lnTo>
                  <a:pt x="1639167" y="0"/>
                </a:lnTo>
                <a:lnTo>
                  <a:pt x="1639167" y="1372803"/>
                </a:lnTo>
                <a:lnTo>
                  <a:pt x="0" y="13728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292820" y="3082871"/>
            <a:ext cx="1350495" cy="1372803"/>
          </a:xfrm>
          <a:custGeom>
            <a:avLst/>
            <a:gdLst/>
            <a:ahLst/>
            <a:cxnLst/>
            <a:rect r="r" b="b" t="t" l="l"/>
            <a:pathLst>
              <a:path h="1372803" w="1350495">
                <a:moveTo>
                  <a:pt x="0" y="0"/>
                </a:moveTo>
                <a:lnTo>
                  <a:pt x="1350495" y="0"/>
                </a:lnTo>
                <a:lnTo>
                  <a:pt x="1350495" y="1372803"/>
                </a:lnTo>
                <a:lnTo>
                  <a:pt x="0" y="13728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031068" y="6142223"/>
            <a:ext cx="1639167" cy="1317481"/>
          </a:xfrm>
          <a:custGeom>
            <a:avLst/>
            <a:gdLst/>
            <a:ahLst/>
            <a:cxnLst/>
            <a:rect r="r" b="b" t="t" l="l"/>
            <a:pathLst>
              <a:path h="1317481" w="1639167">
                <a:moveTo>
                  <a:pt x="0" y="0"/>
                </a:moveTo>
                <a:lnTo>
                  <a:pt x="1639167" y="0"/>
                </a:lnTo>
                <a:lnTo>
                  <a:pt x="1639167" y="1317481"/>
                </a:lnTo>
                <a:lnTo>
                  <a:pt x="0" y="13174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5292820" y="6189253"/>
            <a:ext cx="1350495" cy="1350495"/>
          </a:xfrm>
          <a:custGeom>
            <a:avLst/>
            <a:gdLst/>
            <a:ahLst/>
            <a:cxnLst/>
            <a:rect r="r" b="b" t="t" l="l"/>
            <a:pathLst>
              <a:path h="1350495" w="1350495">
                <a:moveTo>
                  <a:pt x="0" y="0"/>
                </a:moveTo>
                <a:lnTo>
                  <a:pt x="1350495" y="0"/>
                </a:lnTo>
                <a:lnTo>
                  <a:pt x="1350495" y="1350494"/>
                </a:lnTo>
                <a:lnTo>
                  <a:pt x="0" y="135049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9358937" y="5019675"/>
            <a:ext cx="4728598" cy="2121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39"/>
              </a:lnSpc>
              <a:spcBef>
                <a:spcPct val="0"/>
              </a:spcBef>
            </a:pPr>
            <a:r>
              <a:rPr lang="en-US" sz="6099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Market Competition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358937" y="7492122"/>
            <a:ext cx="7470489" cy="1243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Arial Nova"/>
                <a:ea typeface="Arial Nova"/>
                <a:cs typeface="Arial Nova"/>
                <a:sym typeface="Arial Nova"/>
              </a:rPr>
              <a:t>EduNext Innovations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358937" y="1100962"/>
            <a:ext cx="4143942" cy="3241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9"/>
              </a:lnSpc>
              <a:spcBef>
                <a:spcPct val="0"/>
              </a:spcBef>
            </a:pPr>
            <a:r>
              <a:rPr lang="en-US" sz="18999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05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0" y="0"/>
            <a:ext cx="1028700" cy="10287000"/>
            <a:chOff x="0" y="0"/>
            <a:chExt cx="270933" cy="270933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70933" cy="2709333"/>
            </a:xfrm>
            <a:custGeom>
              <a:avLst/>
              <a:gdLst/>
              <a:ahLst/>
              <a:cxnLst/>
              <a:rect r="r" b="b" t="t" l="l"/>
              <a:pathLst>
                <a:path h="2709333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7093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8311187" cy="10287000"/>
            <a:chOff x="0" y="0"/>
            <a:chExt cx="2188955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88955" cy="2709333"/>
            </a:xfrm>
            <a:custGeom>
              <a:avLst/>
              <a:gdLst/>
              <a:ahLst/>
              <a:cxnLst/>
              <a:rect r="r" b="b" t="t" l="l"/>
              <a:pathLst>
                <a:path h="2709333" w="2188955">
                  <a:moveTo>
                    <a:pt x="0" y="0"/>
                  </a:moveTo>
                  <a:lnTo>
                    <a:pt x="2188955" y="0"/>
                  </a:lnTo>
                  <a:lnTo>
                    <a:pt x="218895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100C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88955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8311187" cy="4603171"/>
            <a:chOff x="0" y="0"/>
            <a:chExt cx="2188955" cy="12123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88955" cy="1212358"/>
            </a:xfrm>
            <a:custGeom>
              <a:avLst/>
              <a:gdLst/>
              <a:ahLst/>
              <a:cxnLst/>
              <a:rect r="r" b="b" t="t" l="l"/>
              <a:pathLst>
                <a:path h="1212358" w="2188955">
                  <a:moveTo>
                    <a:pt x="0" y="0"/>
                  </a:moveTo>
                  <a:lnTo>
                    <a:pt x="2188955" y="0"/>
                  </a:lnTo>
                  <a:lnTo>
                    <a:pt x="2188955" y="1212358"/>
                  </a:lnTo>
                  <a:lnTo>
                    <a:pt x="0" y="1212358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188955" cy="1250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829426" y="0"/>
            <a:ext cx="1458574" cy="10287000"/>
            <a:chOff x="0" y="0"/>
            <a:chExt cx="384151" cy="27093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84151" cy="2709333"/>
            </a:xfrm>
            <a:custGeom>
              <a:avLst/>
              <a:gdLst/>
              <a:ahLst/>
              <a:cxnLst/>
              <a:rect r="r" b="b" t="t" l="l"/>
              <a:pathLst>
                <a:path h="2709333" w="384151">
                  <a:moveTo>
                    <a:pt x="0" y="0"/>
                  </a:moveTo>
                  <a:lnTo>
                    <a:pt x="384151" y="0"/>
                  </a:lnTo>
                  <a:lnTo>
                    <a:pt x="38415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100C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84151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9482679" y="1076325"/>
            <a:ext cx="3932616" cy="1736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70"/>
              </a:lnSpc>
            </a:pPr>
            <a:r>
              <a:rPr lang="en-US" sz="6099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Targeted campaigns on LinkedIn, university partnerships, and influencer collaborations.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482679" y="3480435"/>
            <a:ext cx="6373433" cy="1663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Arial Nova"/>
                <a:ea typeface="Arial Nova"/>
                <a:cs typeface="Arial Nova"/>
                <a:sym typeface="Arial Nova"/>
              </a:rPr>
              <a:t>EduNext Innovations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58574" y="1100962"/>
            <a:ext cx="3739122" cy="3241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9"/>
              </a:lnSpc>
              <a:spcBef>
                <a:spcPct val="0"/>
              </a:spcBef>
            </a:pPr>
            <a:r>
              <a:rPr lang="en-US" sz="18999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l="0" t="-18555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050986" y="898345"/>
            <a:ext cx="9107498" cy="3109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754"/>
              </a:lnSpc>
            </a:pPr>
            <a:r>
              <a:rPr lang="en-US" sz="13510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Revenue Model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3688072">
            <a:off x="-6970011" y="-3262037"/>
            <a:ext cx="12318385" cy="10638606"/>
          </a:xfrm>
          <a:custGeom>
            <a:avLst/>
            <a:gdLst/>
            <a:ahLst/>
            <a:cxnLst/>
            <a:rect r="r" b="b" t="t" l="l"/>
            <a:pathLst>
              <a:path h="10638606" w="12318385">
                <a:moveTo>
                  <a:pt x="0" y="0"/>
                </a:moveTo>
                <a:lnTo>
                  <a:pt x="12318386" y="0"/>
                </a:lnTo>
                <a:lnTo>
                  <a:pt x="12318386" y="10638605"/>
                </a:lnTo>
                <a:lnTo>
                  <a:pt x="0" y="106386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7213610">
            <a:off x="1739501" y="6931719"/>
            <a:ext cx="8218320" cy="7097640"/>
          </a:xfrm>
          <a:custGeom>
            <a:avLst/>
            <a:gdLst/>
            <a:ahLst/>
            <a:cxnLst/>
            <a:rect r="r" b="b" t="t" l="l"/>
            <a:pathLst>
              <a:path h="7097640" w="8218320">
                <a:moveTo>
                  <a:pt x="0" y="0"/>
                </a:moveTo>
                <a:lnTo>
                  <a:pt x="8218320" y="0"/>
                </a:lnTo>
                <a:lnTo>
                  <a:pt x="8218320" y="7097640"/>
                </a:lnTo>
                <a:lnTo>
                  <a:pt x="0" y="70976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050986" y="5095875"/>
            <a:ext cx="6259403" cy="1663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Arial Nova"/>
                <a:ea typeface="Arial Nova"/>
                <a:cs typeface="Arial Nova"/>
                <a:sym typeface="Arial Nova"/>
              </a:rPr>
              <a:t>Subscription-based with tiered pricing for institutions.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113358"/>
            <a:ext cx="12398640" cy="1069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02"/>
              </a:lnSpc>
            </a:pPr>
            <a:r>
              <a:rPr lang="en-US" sz="6912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Startup costs</a:t>
            </a:r>
          </a:p>
        </p:txBody>
      </p:sp>
      <p:sp>
        <p:nvSpPr>
          <p:cNvPr name="Freeform 3" id="3"/>
          <p:cNvSpPr/>
          <p:nvPr/>
        </p:nvSpPr>
        <p:spPr>
          <a:xfrm flipH="true" flipV="true" rot="-5909349">
            <a:off x="-4840687" y="7999725"/>
            <a:ext cx="12789569" cy="10394432"/>
          </a:xfrm>
          <a:custGeom>
            <a:avLst/>
            <a:gdLst/>
            <a:ahLst/>
            <a:cxnLst/>
            <a:rect r="r" b="b" t="t" l="l"/>
            <a:pathLst>
              <a:path h="10394432" w="12789569">
                <a:moveTo>
                  <a:pt x="12789569" y="10394432"/>
                </a:moveTo>
                <a:lnTo>
                  <a:pt x="0" y="10394432"/>
                </a:lnTo>
                <a:lnTo>
                  <a:pt x="0" y="0"/>
                </a:lnTo>
                <a:lnTo>
                  <a:pt x="12789569" y="0"/>
                </a:lnTo>
                <a:lnTo>
                  <a:pt x="12789569" y="10394432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673643" y="2741835"/>
          <a:ext cx="8053852" cy="7058025"/>
        </p:xfrm>
        <a:graphic>
          <a:graphicData uri="http://schemas.openxmlformats.org/drawingml/2006/table">
            <a:tbl>
              <a:tblPr firstRow="1" firstCol="0" lastRow="0" lastCol="0" bandRow="0" bandCol="0">
                <a:tableStyleId>{5C22544A-7EE6-4342-B048-85BDC9FD1C3A}</a:tableStyleId>
              </a:tblPr>
              <a:tblGrid>
                <a:gridCol w="2400000"/>
                <a:gridCol w="1600000"/>
              </a:tblGrid>
              <a:tr h="300000">
                <a:tc>
                  <a:txBody>
                    <a:bodyPr anchor="ctr" anchorCtr="1" lIns="91440" tIns="18288" rIns="91440" bIns="18288"/>
                    <a:lstStyle/>
                    <a:p algn="ctr">
                      <a:pPr marL="0" marR="0" indent="0"/>
                      <a:r>
                        <a:rPr lang="en-US" sz="1400" b="1" dirty="0" smtClean="0">
                          <a:solidFill>
                            <a:srgbClr val="000000"/>
                          </a:solidFill>
                        </a:rPr>
                        <a:t>CAPEX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ctr">
                      <a:pPr marL="0" marR="0" indent="0"/>
                      <a:r>
                        <a:rPr lang="en-US" sz="1400" b="1" dirty="0" smtClean="0">
                          <a:solidFill>
                            <a:srgbClr val="000000"/>
                          </a:solidFill>
                        </a:rPr>
                        <a:t>Cost (USD)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60000">
                <a:tc>
                  <a:txBody>
                    <a:bodyPr anchor="ctr" anchorCtr="1" lIns="91440" tIns="18288" rIns="91440" bIns="18288"/>
                    <a:lstStyle/>
                    <a:p algn="l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Platform Development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USD 50,000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60000">
                <a:tc>
                  <a:txBody>
                    <a:bodyPr anchor="ctr" anchorCtr="1" lIns="91440" tIns="18288" rIns="91440" bIns="18288"/>
                    <a:lstStyle/>
                    <a:p algn="l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Server Infrastructure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USD 20,000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60000">
                <a:tc>
                  <a:txBody>
                    <a:bodyPr anchor="ctr" anchorCtr="1" lIns="91440" tIns="18288" rIns="91440" bIns="18288"/>
                    <a:lstStyle/>
                    <a:p algn="l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Server Infrastructure 369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USD 9,20,000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60000">
                <a:tc>
                  <a:txBody>
                    <a:bodyPr anchor="ctr" anchorCtr="1" lIns="91440" tIns="18288" rIns="91440" bIns="18288"/>
                    <a:lstStyle/>
                    <a:p algn="l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60000">
                <a:tc>
                  <a:txBody>
                    <a:bodyPr anchor="ctr" anchorCtr="1" lIns="91440" tIns="18288" rIns="91440" bIns="18288"/>
                    <a:lstStyle/>
                    <a:p algn="l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60000">
                <a:tc>
                  <a:txBody>
                    <a:bodyPr anchor="ctr" anchorCtr="1" lIns="91440" tIns="18288" rIns="91440" bIns="18288"/>
                    <a:lstStyle/>
                    <a:p algn="l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60000">
                <a:tc>
                  <a:txBody>
                    <a:bodyPr anchor="ctr" anchorCtr="1" lIns="91440" tIns="18288" rIns="91440" bIns="18288"/>
                    <a:lstStyle/>
                    <a:p algn="l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9400414" y="2741835"/>
          <a:ext cx="8053852" cy="7058025"/>
        </p:xfrm>
        <a:graphic>
          <a:graphicData uri="http://schemas.openxmlformats.org/drawingml/2006/table">
            <a:tbl>
              <a:tblPr firstRow="1" firstCol="0" lastRow="0" lastCol="0" bandRow="0" bandCol="0">
                <a:tableStyleId>{5C22544A-7EE6-4342-B048-85BDC9FD1C3A}</a:tableStyleId>
              </a:tblPr>
              <a:tblGrid>
                <a:gridCol w="2400000"/>
                <a:gridCol w="1600000"/>
              </a:tblGrid>
              <a:tr h="300000">
                <a:tc>
                  <a:txBody>
                    <a:bodyPr anchor="ctr" anchorCtr="1" lIns="91440" tIns="18288" rIns="91440" bIns="18288"/>
                    <a:lstStyle/>
                    <a:p algn="ctr">
                      <a:pPr marL="0" marR="0" indent="0"/>
                      <a:r>
                        <a:rPr lang="en-US" sz="1400" b="1" dirty="0" smtClean="0">
                          <a:solidFill>
                            <a:srgbClr val="000000"/>
                          </a:solidFill>
                        </a:rPr>
                        <a:t>OPEX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ctr">
                      <a:pPr marL="0" marR="0" indent="0"/>
                      <a:r>
                        <a:rPr lang="en-US" sz="1400" b="1" dirty="0" smtClean="0">
                          <a:solidFill>
                            <a:srgbClr val="000000"/>
                          </a:solidFill>
                        </a:rPr>
                        <a:t>Cost (USD)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60000">
                <a:tc>
                  <a:txBody>
                    <a:bodyPr anchor="ctr" anchorCtr="1" lIns="91440" tIns="18288" rIns="91440" bIns="18288"/>
                    <a:lstStyle/>
                    <a:p algn="l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M1 - y1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USD 10,000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60000">
                <a:tc>
                  <a:txBody>
                    <a:bodyPr anchor="ctr" anchorCtr="1" lIns="91440" tIns="18288" rIns="91440" bIns="18288"/>
                    <a:lstStyle/>
                    <a:p algn="l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M1 - y2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USD 12,000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60000">
                <a:tc>
                  <a:txBody>
                    <a:bodyPr anchor="ctr" anchorCtr="1" lIns="91440" tIns="18288" rIns="91440" bIns="18288"/>
                    <a:lstStyle/>
                    <a:p algn="l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M1 - y3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USD 15,000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60000">
                <a:tc>
                  <a:txBody>
                    <a:bodyPr anchor="ctr" anchorCtr="1" lIns="91440" tIns="18288" rIns="91440" bIns="18288"/>
                    <a:lstStyle/>
                    <a:p algn="l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M1 - y4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USD 18,000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60000">
                <a:tc>
                  <a:txBody>
                    <a:bodyPr anchor="ctr" anchorCtr="1" lIns="91440" tIns="18288" rIns="91440" bIns="18288"/>
                    <a:lstStyle/>
                    <a:p algn="l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M1 - y5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USD 20,000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60000">
                <a:tc>
                  <a:txBody>
                    <a:bodyPr anchor="ctr" anchorCtr="1" lIns="91440" tIns="18288" rIns="91440" bIns="18288"/>
                    <a:lstStyle/>
                    <a:p algn="l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M2 - y1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USD 5,000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60000">
                <a:tc>
                  <a:txBody>
                    <a:bodyPr anchor="ctr" anchorCtr="1" lIns="91440" tIns="18288" rIns="91440" bIns="18288"/>
                    <a:lstStyle/>
                    <a:p algn="l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M2 - y2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USD 7,000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60000">
                <a:tc>
                  <a:txBody>
                    <a:bodyPr anchor="ctr" anchorCtr="1" lIns="91440" tIns="18288" rIns="91440" bIns="18288"/>
                    <a:lstStyle/>
                    <a:p algn="l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M2 - y3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USD 9,000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777415" y="1734033"/>
          <a:ext cx="12194003" cy="7887100"/>
        </p:xfrm>
        <a:graphic>
          <a:graphicData uri="http://schemas.openxmlformats.org/drawingml/2006/table">
            <a:tbl>
              <a:tblPr firstRow="1" firstCol="0" lastRow="0" lastCol="0" bandRow="0" bandCol="0">
                <a:tableStyleId>{5C22544A-7EE6-4342-B048-85BDC9FD1C3A}</a:tableStyleId>
              </a:tblPr>
              <a:tblGrid>
                <a:gridCol w="2400000"/>
                <a:gridCol w="1600000"/>
              </a:tblGrid>
              <a:tr h="300000">
                <a:tc>
                  <a:txBody>
                    <a:bodyPr anchor="ctr" anchorCtr="1" lIns="91440" tIns="18288" rIns="91440" bIns="18288"/>
                    <a:lstStyle/>
                    <a:p algn="ctr">
                      <a:pPr marL="0" marR="0" indent="0"/>
                      <a:r>
                        <a:rPr lang="en-US" sz="1400" b="1" dirty="0" smtClean="0">
                          <a:solidFill>
                            <a:srgbClr val="000000"/>
                          </a:solidFill>
                        </a:rPr>
                        <a:t>Model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ctr">
                      <a:pPr marL="0" marR="0" indent="0"/>
                      <a:r>
                        <a:rPr lang="en-US" sz="1400" b="1" dirty="0" smtClean="0">
                          <a:solidFill>
                            <a:srgbClr val="000000"/>
                          </a:solidFill>
                        </a:rPr>
                        <a:t>Year 1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ctr">
                      <a:pPr marL="0" marR="0" indent="0"/>
                      <a:r>
                        <a:rPr lang="en-US" sz="1400" b="1" dirty="0" smtClean="0">
                          <a:solidFill>
                            <a:srgbClr val="000000"/>
                          </a:solidFill>
                        </a:rPr>
                        <a:t>Year 2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ctr">
                      <a:pPr marL="0" marR="0" indent="0"/>
                      <a:r>
                        <a:rPr lang="en-US" sz="1400" b="1" dirty="0" smtClean="0">
                          <a:solidFill>
                            <a:srgbClr val="000000"/>
                          </a:solidFill>
                        </a:rPr>
                        <a:t>Year 3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ctr">
                      <a:pPr marL="0" marR="0" indent="0"/>
                      <a:r>
                        <a:rPr lang="en-US" sz="1400" b="1" dirty="0" smtClean="0">
                          <a:solidFill>
                            <a:srgbClr val="000000"/>
                          </a:solidFill>
                        </a:rPr>
                        <a:t>Year 4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ctr">
                      <a:pPr marL="0" marR="0" indent="0"/>
                      <a:r>
                        <a:rPr lang="en-US" sz="1400" b="1" dirty="0" smtClean="0">
                          <a:solidFill>
                            <a:srgbClr val="000000"/>
                          </a:solidFill>
                        </a:rPr>
                        <a:t>Year 5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60000">
                <a:tc>
                  <a:txBody>
                    <a:bodyPr anchor="ctr" anchorCtr="1" lIns="91440" tIns="18288" rIns="91440" bIns="18288"/>
                    <a:lstStyle/>
                    <a:p algn="l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M1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USD 20,000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USD 40,000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USD 60,000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USD 80,000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USD 1,00,000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60000">
                <a:tc>
                  <a:txBody>
                    <a:bodyPr anchor="ctr" anchorCtr="1" lIns="91440" tIns="18288" rIns="91440" bIns="18288"/>
                    <a:lstStyle/>
                    <a:p algn="l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M2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USD 10,000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USD 20,000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USD 30,000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USD 40,000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USD 50,000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60000">
                <a:tc>
                  <a:txBody>
                    <a:bodyPr anchor="ctr" anchorCtr="1" lIns="91440" tIns="18288" rIns="91440" bIns="18288"/>
                    <a:lstStyle/>
                    <a:p algn="l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Total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USD 30,000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USD 60,000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USD 90,000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USD 1,20,000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USD 1,50,000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60000">
                <a:tc>
                  <a:txBody>
                    <a:bodyPr anchor="ctr" anchorCtr="1" lIns="91440" tIns="18288" rIns="91440" bIns="18288"/>
                    <a:lstStyle/>
                    <a:p algn="l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60000">
                <a:tc>
                  <a:txBody>
                    <a:bodyPr anchor="ctr" anchorCtr="1" lIns="91440" tIns="18288" rIns="91440" bIns="18288"/>
                    <a:lstStyle/>
                    <a:p algn="l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60000">
                <a:tc>
                  <a:txBody>
                    <a:bodyPr anchor="ctr" anchorCtr="1" lIns="91440" tIns="18288" rIns="91440" bIns="18288"/>
                    <a:lstStyle/>
                    <a:p algn="l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60000">
                <a:tc>
                  <a:txBody>
                    <a:bodyPr anchor="ctr" anchorCtr="1" lIns="91440" tIns="18288" rIns="91440" bIns="18288"/>
                    <a:lstStyle/>
                    <a:p algn="l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grpSp>
        <p:nvGrpSpPr>
          <p:cNvPr name="Group 3" id="3"/>
          <p:cNvGrpSpPr/>
          <p:nvPr/>
        </p:nvGrpSpPr>
        <p:grpSpPr>
          <a:xfrm rot="0">
            <a:off x="14192432" y="5294157"/>
            <a:ext cx="3275492" cy="845483"/>
            <a:chOff x="0" y="0"/>
            <a:chExt cx="862681" cy="22267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62681" cy="222679"/>
            </a:xfrm>
            <a:custGeom>
              <a:avLst/>
              <a:gdLst/>
              <a:ahLst/>
              <a:cxnLst/>
              <a:rect r="r" b="b" t="t" l="l"/>
              <a:pathLst>
                <a:path h="222679" w="862681">
                  <a:moveTo>
                    <a:pt x="0" y="0"/>
                  </a:moveTo>
                  <a:lnTo>
                    <a:pt x="862681" y="0"/>
                  </a:lnTo>
                  <a:lnTo>
                    <a:pt x="862681" y="222679"/>
                  </a:lnTo>
                  <a:lnTo>
                    <a:pt x="0" y="222679"/>
                  </a:lnTo>
                  <a:close/>
                </a:path>
              </a:pathLst>
            </a:custGeom>
            <a:solidFill>
              <a:srgbClr val="2100C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862681" cy="2607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777415" y="312621"/>
            <a:ext cx="12398640" cy="1069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02"/>
              </a:lnSpc>
            </a:pPr>
            <a:r>
              <a:rPr lang="en-US" sz="6912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Financial Projections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044297" y="3853006"/>
            <a:ext cx="3571761" cy="451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0"/>
              </a:lnSpc>
            </a:pPr>
            <a:r>
              <a:rPr lang="en-US" sz="3264">
                <a:solidFill>
                  <a:srgbClr val="000000"/>
                </a:solidFill>
                <a:latin typeface="Arial Nova"/>
                <a:ea typeface="Arial Nova"/>
                <a:cs typeface="Arial Nova"/>
                <a:sym typeface="Arial Nova"/>
              </a:rPr>
              <a:t>break-even point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8929063" cy="10287000"/>
            <a:chOff x="0" y="0"/>
            <a:chExt cx="11905417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26536" t="0" r="12812" b="0"/>
            <a:stretch>
              <a:fillRect/>
            </a:stretch>
          </p:blipFill>
          <p:spPr>
            <a:xfrm flipH="false" flipV="false">
              <a:off x="0" y="0"/>
              <a:ext cx="11905417" cy="13716000"/>
            </a:xfrm>
            <a:prstGeom prst="rect">
              <a:avLst/>
            </a:prstGeom>
          </p:spPr>
        </p:pic>
      </p:grpSp>
      <p:sp>
        <p:nvSpPr>
          <p:cNvPr name="TextBox 4" id="4"/>
          <p:cNvSpPr txBox="true"/>
          <p:nvPr/>
        </p:nvSpPr>
        <p:spPr>
          <a:xfrm rot="0">
            <a:off x="9589924" y="4162869"/>
            <a:ext cx="8214463" cy="1045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39"/>
              </a:lnSpc>
              <a:spcBef>
                <a:spcPct val="0"/>
              </a:spcBef>
            </a:pPr>
            <a:r>
              <a:rPr lang="en-US" sz="6099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Future Developments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589924" y="5552948"/>
            <a:ext cx="6024436" cy="1663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Arial Nova"/>
                <a:ea typeface="Arial Nova"/>
                <a:cs typeface="Arial Nova"/>
                <a:sym typeface="Arial Nova"/>
              </a:rPr>
              <a:t>Expand globally, integrate AI-driven project matchmaking, and certification programs.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89924" y="1045018"/>
            <a:ext cx="4348354" cy="3241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9"/>
              </a:lnSpc>
              <a:spcBef>
                <a:spcPct val="0"/>
              </a:spcBef>
            </a:pPr>
            <a:r>
              <a:rPr lang="en-US" sz="18999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l="0" t="-18555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151802" y="3500001"/>
            <a:ext cx="9107498" cy="2314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4"/>
              </a:lnSpc>
              <a:spcBef>
                <a:spcPct val="0"/>
              </a:spcBef>
            </a:pPr>
            <a:r>
              <a:rPr lang="en-US" sz="13510">
                <a:solidFill>
                  <a:srgbClr val="120202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Thank You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3688072">
            <a:off x="-6970011" y="-3262037"/>
            <a:ext cx="12318385" cy="10638606"/>
          </a:xfrm>
          <a:custGeom>
            <a:avLst/>
            <a:gdLst/>
            <a:ahLst/>
            <a:cxnLst/>
            <a:rect r="r" b="b" t="t" l="l"/>
            <a:pathLst>
              <a:path h="10638606" w="12318385">
                <a:moveTo>
                  <a:pt x="0" y="0"/>
                </a:moveTo>
                <a:lnTo>
                  <a:pt x="12318386" y="0"/>
                </a:lnTo>
                <a:lnTo>
                  <a:pt x="12318386" y="10638605"/>
                </a:lnTo>
                <a:lnTo>
                  <a:pt x="0" y="106386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7213610">
            <a:off x="1739501" y="6931719"/>
            <a:ext cx="8218320" cy="7097640"/>
          </a:xfrm>
          <a:custGeom>
            <a:avLst/>
            <a:gdLst/>
            <a:ahLst/>
            <a:cxnLst/>
            <a:rect r="r" b="b" t="t" l="l"/>
            <a:pathLst>
              <a:path h="7097640" w="8218320">
                <a:moveTo>
                  <a:pt x="0" y="0"/>
                </a:moveTo>
                <a:lnTo>
                  <a:pt x="8218320" y="0"/>
                </a:lnTo>
                <a:lnTo>
                  <a:pt x="8218320" y="7097640"/>
                </a:lnTo>
                <a:lnTo>
                  <a:pt x="0" y="70976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DAGuD_pp2e8</dc:identifier>
  <dcterms:modified xsi:type="dcterms:W3CDTF">2011-08-01T06:04:30Z</dcterms:modified>
  <cp:revision>1</cp:revision>
  <dc:title>Example Pitch Deck 7</dc:title>
</cp:coreProperties>
</file>