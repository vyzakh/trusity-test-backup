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tna Sans Serif" charset="1" panose="02000600000000000000"/>
      <p:regular r:id="rId18"/>
    </p:embeddedFont>
    <p:embeddedFont>
      <p:font typeface="Arial Nova" charset="1" panose="020B05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88072">
            <a:off x="9616496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13610">
            <a:off x="8743789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8574" y="1201399"/>
            <a:ext cx="7002397" cy="23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3325205"/>
            <a:ext cx="7002397" cy="172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7"/>
              </a:lnSpc>
              <a:spcBef>
                <a:spcPct val="0"/>
              </a:spcBef>
            </a:pPr>
            <a:r>
              <a:rPr lang="en-US" sz="10098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574" y="7165361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id="1758541183460" name="Table 1758541183460"/>
          <p:cNvSpPr>
            <a:spLocks noGrp="1"/>
          </p:cNvSpPr>
          <p:nvPr/>
        </p:nvSpPr>
        <p:spPr>
          <a:xfrm>
            <a:off x="1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CAPEX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Platform Development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Server Infrastructure 369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/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  <p:sp>
        <p:nvSpPr>
          <p:cNvPr id="1758541183460" name="Table 1758541183460"/>
          <p:cNvSpPr>
            <a:spLocks noGrp="1"/>
          </p:cNvSpPr>
          <p:nvPr/>
        </p:nvSpPr>
        <p:spPr>
          <a:xfrm>
            <a:off x="5000000" y="1500000"/>
            <a:ext cx="4300000" cy="3500000"/>
          </a:xfrm>
          <a:prstGeom prst="rect">
            <a:avLst/>
          </a:prstGeom>
          <a:noFill/>
        </p:spPr>
        <p:txBody>
          <a:bodyPr/>
          <a:lstStyle/>
          <a:tbl>
            <a:tblPr firstRow="1" firstCol="0" lastRow="0" lastCol="0" bandRow="0" bandCol="0">
              <a:tableStyleId>{5C22544A-7EE6-4342-B048-85BDC9FD1C3A}</a:tableStyleId>
            </a:tblPr>
            <a:tblGrid>
              <a:gridCol w="2400000"/>
              <a:gridCol w="1600000"/>
            </a:tblGrid>
            <a:tr h="300000"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OPEX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ctr">
                    <a:pPr marL="0" marR="0" indent="0"/>
                    <a:r>
                      <a:rPr lang="en-US" sz="1400" b="1" dirty="0" smtClean="0">
                        <a:solidFill>
                          <a:srgbClr val="000000"/>
                        </a:solidFill>
                      </a:rPr>
                      <a:t>Cost (USD)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12,000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y4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18,000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M1 - y5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20,000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y1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5,000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y2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7,000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  <a:tr h="260000">
              <a:tc>
                <a:txBody>
                  <a:bodyPr anchor="ctr" anchorCtr="1" lIns="91440" tIns="18288" rIns="91440" bIns="18288"/>
                  <a:lstStyle/>
                  <a:p algn="l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M2 - y3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  <a:tc>
                <a:txBody>
                  <a:bodyPr anchor="ctr" anchorCtr="1" lIns="91440" tIns="18288" rIns="91440" bIns="18288"/>
                  <a:lstStyle/>
                  <a:p algn="r">
                    <a:pPr marL="0" marR="0" indent="0"/>
                    <a:r>
                      <a:rPr lang="en-US" sz="1200" dirty="0" smtClean="0">
                        <a:solidFill>
                          <a:srgbClr val="000000"/>
                        </a:solidFill>
                      </a:rPr>
                      <a:t>USD 9,000</a:t>
                    </a:r>
                  </a:p>
                </a:txBody>
                <a:tcPr anchor="ctr" marL="91440" marT="18288" marR="91440" marB="18288">
                  <a:solidFill>
                    <a:srgbClr val="FFFFFF"/>
                  </a:solidFill>
                  <a:lnL w="12700">
                    <a:solidFill>
                      <a:srgbClr val="000000"/>
                    </a:solidFill>
                  </a:lnL>
                  <a:lnR w="12700">
                    <a:solidFill>
                      <a:srgbClr val="000000"/>
                    </a:solidFill>
                  </a:lnR>
                  <a:lnT w="12700">
                    <a:solidFill>
                      <a:srgbClr val="000000"/>
                    </a:solidFill>
                  </a:lnT>
                  <a:lnB w="12700">
                    <a:solidFill>
                      <a:srgbClr val="000000"/>
                    </a:solidFill>
                  </a:lnB>
                </a:tcPr>
              </a:tc>
            </a:tr>
          </a:tbl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5969417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7226492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Students often lack practical exposure, while industries struggle to find talent ready for innovation.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1360" y="1427685"/>
            <a:ext cx="380748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51360" y="2684759"/>
            <a:ext cx="608450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>
            <a:off x="4474115" y="1459321"/>
            <a:ext cx="0" cy="28885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0"/>
            <a:ext cx="11019046" cy="10454710"/>
            <a:chOff x="0" y="0"/>
            <a:chExt cx="2902136" cy="275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136" cy="2753504"/>
            </a:xfrm>
            <a:custGeom>
              <a:avLst/>
              <a:gdLst/>
              <a:ahLst/>
              <a:cxnLst/>
              <a:rect r="r" b="b" t="t" l="l"/>
              <a:pathLst>
                <a:path h="2753504" w="2902136">
                  <a:moveTo>
                    <a:pt x="0" y="0"/>
                  </a:moveTo>
                  <a:lnTo>
                    <a:pt x="2902136" y="0"/>
                  </a:lnTo>
                  <a:lnTo>
                    <a:pt x="2902136" y="2753504"/>
                  </a:lnTo>
                  <a:lnTo>
                    <a:pt x="0" y="27535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2136" cy="2791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8574" y="5019675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latin typeface="Etna Sans Serif"/>
                <a:ea typeface="Etna Sans Serif"/>
                <a:cs typeface="Etna Sans Serif"/>
                <a:sym typeface="Etna Sans Serif"/>
              </a:rPr>
              <a:t>A working prototype with real-time project collaboration and mentor feedback is live.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127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05918"/>
            <a:ext cx="1042755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 Market &amp; Our pilot programs have achieved 90% satisfaction from both students and faculty.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999" y="6876661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7323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9421" y="0"/>
            <a:ext cx="9510482" cy="10287000"/>
            <a:chOff x="0" y="0"/>
            <a:chExt cx="250481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48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48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49421" y="0"/>
            <a:ext cx="9510482" cy="4603171"/>
            <a:chOff x="0" y="0"/>
            <a:chExt cx="2504818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4818" cy="1212358"/>
            </a:xfrm>
            <a:custGeom>
              <a:avLst/>
              <a:gdLst/>
              <a:ahLst/>
              <a:cxnLst/>
              <a:rect r="r" b="b" t="t" l="l"/>
              <a:pathLst>
                <a:path h="1212358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04818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5400000">
            <a:off x="1458574" y="5195889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458574" y="5095875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031068" y="3082871"/>
            <a:ext cx="1639167" cy="1372803"/>
          </a:xfrm>
          <a:custGeom>
            <a:avLst/>
            <a:gdLst/>
            <a:ahLst/>
            <a:cxnLst/>
            <a:rect r="r" b="b" t="t" l="l"/>
            <a:pathLst>
              <a:path h="1372803" w="1639167">
                <a:moveTo>
                  <a:pt x="0" y="0"/>
                </a:moveTo>
                <a:lnTo>
                  <a:pt x="1639167" y="0"/>
                </a:lnTo>
                <a:lnTo>
                  <a:pt x="1639167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820" y="3082871"/>
            <a:ext cx="1350495" cy="1372803"/>
          </a:xfrm>
          <a:custGeom>
            <a:avLst/>
            <a:gdLst/>
            <a:ahLst/>
            <a:cxnLst/>
            <a:rect r="r" b="b" t="t" l="l"/>
            <a:pathLst>
              <a:path h="1372803" w="1350495">
                <a:moveTo>
                  <a:pt x="0" y="0"/>
                </a:moveTo>
                <a:lnTo>
                  <a:pt x="1350495" y="0"/>
                </a:lnTo>
                <a:lnTo>
                  <a:pt x="1350495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068" y="6142223"/>
            <a:ext cx="1639167" cy="1317481"/>
          </a:xfrm>
          <a:custGeom>
            <a:avLst/>
            <a:gdLst/>
            <a:ahLst/>
            <a:cxnLst/>
            <a:rect r="r" b="b" t="t" l="l"/>
            <a:pathLst>
              <a:path h="1317481" w="1639167">
                <a:moveTo>
                  <a:pt x="0" y="0"/>
                </a:moveTo>
                <a:lnTo>
                  <a:pt x="1639167" y="0"/>
                </a:lnTo>
                <a:lnTo>
                  <a:pt x="1639167" y="1317481"/>
                </a:lnTo>
                <a:lnTo>
                  <a:pt x="0" y="1317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92820" y="6189253"/>
            <a:ext cx="1350495" cy="1350495"/>
          </a:xfrm>
          <a:custGeom>
            <a:avLst/>
            <a:gdLst/>
            <a:ahLst/>
            <a:cxnLst/>
            <a:rect r="r" b="b" t="t" l="l"/>
            <a:pathLst>
              <a:path h="1350495" w="1350495">
                <a:moveTo>
                  <a:pt x="0" y="0"/>
                </a:moveTo>
                <a:lnTo>
                  <a:pt x="1350495" y="0"/>
                </a:lnTo>
                <a:lnTo>
                  <a:pt x="1350495" y="1350494"/>
                </a:lnTo>
                <a:lnTo>
                  <a:pt x="0" y="135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58937" y="5019675"/>
            <a:ext cx="4728598" cy="212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Market Competition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937" y="7492122"/>
            <a:ext cx="747048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8937" y="1100962"/>
            <a:ext cx="414394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11187" cy="10287000"/>
            <a:chOff x="0" y="0"/>
            <a:chExt cx="218895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89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895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311187" cy="4603171"/>
            <a:chOff x="0" y="0"/>
            <a:chExt cx="2188955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8955" cy="1212358"/>
            </a:xfrm>
            <a:custGeom>
              <a:avLst/>
              <a:gdLst/>
              <a:ahLst/>
              <a:cxnLst/>
              <a:rect r="r" b="b" t="t" l="l"/>
              <a:pathLst>
                <a:path h="1212358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8955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9426" y="0"/>
            <a:ext cx="1458574" cy="10287000"/>
            <a:chOff x="0" y="0"/>
            <a:chExt cx="384151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1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4151">
                  <a:moveTo>
                    <a:pt x="0" y="0"/>
                  </a:moveTo>
                  <a:lnTo>
                    <a:pt x="384151" y="0"/>
                  </a:lnTo>
                  <a:lnTo>
                    <a:pt x="3841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15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82679" y="1076325"/>
            <a:ext cx="3932616" cy="17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0"/>
              </a:lnSpc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Targeted campaigns on LinkedIn, university partnerships, and influencer collaborations.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2679" y="3480435"/>
            <a:ext cx="637343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EduNext Innovations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574" y="1100962"/>
            <a:ext cx="373912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50986" y="898345"/>
            <a:ext cx="9107498" cy="310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4"/>
              </a:lnSpc>
            </a:pPr>
            <a:r>
              <a:rPr lang="en-US" sz="1351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0986" y="5095875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Subscription-based with tiered pricing for institutions.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13358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 costs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909349">
            <a:off x="-4840687" y="7999725"/>
            <a:ext cx="12789569" cy="10394432"/>
          </a:xfrm>
          <a:custGeom>
            <a:avLst/>
            <a:gdLst/>
            <a:ahLst/>
            <a:cxnLst/>
            <a:rect r="r" b="b" t="t" l="l"/>
            <a:pathLst>
              <a:path h="10394432" w="12789569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73643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CAPEX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Platform Development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Server Infrastructure 369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400414" y="2741835"/>
          <a:ext cx="8053852" cy="7058025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OPEX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Cost (USD)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12,000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18,000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M1 - y5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7,000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M2 - y3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7415" y="1734033"/>
          <a:ext cx="12194003" cy="7887100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2400000"/>
                <a:gridCol w="1600000"/>
              </a:tblGrid>
              <a:tr h="300000"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Model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3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4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ctr">
                      <a:pPr marL="0" marR="0" indent="0"/>
                      <a:r>
                        <a:rPr lang="en-US" sz="1400" b="1" dirty="0" smtClean="0">
                          <a:solidFill>
                            <a:srgbClr val="000000"/>
                          </a:solidFill>
                        </a:rPr>
                        <a:t>Year 5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M1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80,000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1,00,000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M2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40,000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Total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30,000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60,000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90,000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1,20,000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>USD 1,50,000</a:t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260000">
                <a:tc>
                  <a:txBody>
                    <a:bodyPr anchor="ctr" anchorCtr="1" lIns="91440" tIns="18288" rIns="91440" bIns="18288"/>
                    <a:lstStyle/>
                    <a:p algn="l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anchor="ctr" anchorCtr="1" lIns="91440" tIns="18288" rIns="91440" bIns="18288"/>
                    <a:lstStyle/>
                    <a:p algn="r">
                      <a:pPr marL="0" marR="0" indent="0"/>
                      <a:r>
                        <a:rPr lang="en-US" sz="1200" dirty="0" smtClean="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anchor="ctr" marL="91440" marT="18288" marR="91440" marB="18288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192432" y="5294157"/>
            <a:ext cx="3275492" cy="845483"/>
            <a:chOff x="0" y="0"/>
            <a:chExt cx="862681" cy="222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2681" cy="222679"/>
            </a:xfrm>
            <a:custGeom>
              <a:avLst/>
              <a:gdLst/>
              <a:ahLst/>
              <a:cxnLst/>
              <a:rect r="r" b="b" t="t" l="l"/>
              <a:pathLst>
                <a:path h="222679" w="862681">
                  <a:moveTo>
                    <a:pt x="0" y="0"/>
                  </a:moveTo>
                  <a:lnTo>
                    <a:pt x="862681" y="0"/>
                  </a:lnTo>
                  <a:lnTo>
                    <a:pt x="862681" y="222679"/>
                  </a:lnTo>
                  <a:lnTo>
                    <a:pt x="0" y="222679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2681" cy="26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7415" y="312621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Financial Projections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4297" y="3853006"/>
            <a:ext cx="3571761" cy="45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3264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break-even point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4162869"/>
            <a:ext cx="8214463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Future Developments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5552948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Expand globally, integrate AI-driven project matchmaking, and certification programs.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1802" y="3500001"/>
            <a:ext cx="9107498" cy="23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120202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DAGuD_pp2e8</dc:identifier>
  <dcterms:modified xsi:type="dcterms:W3CDTF">2011-08-01T06:04:30Z</dcterms:modified>
  <cp:revision>1</cp:revision>
  <dc:title>Example Pitch Deck 7</dc:title>
</cp:coreProperties>
</file>