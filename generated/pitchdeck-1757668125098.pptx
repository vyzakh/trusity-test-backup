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Etna Sans Serif" charset="1" panose="02000600000000000000"/>
      <p:regular r:id="rId18"/>
    </p:embeddedFont>
    <p:embeddedFont>
      <p:font typeface="Arial Nova" charset="1" panose="020B05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688072">
            <a:off x="9616496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213610">
            <a:off x="8743789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58574" y="1201399"/>
            <a:ext cx="7002397" cy="2314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3325205"/>
            <a:ext cx="7002397" cy="1724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37"/>
              </a:lnSpc>
              <a:spcBef>
                <a:spcPct val="0"/>
              </a:spcBef>
            </a:pPr>
            <a:r>
              <a:rPr lang="en-US" sz="10098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Pitch Deck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8574" y="7165361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Lorem ipsum dolor sit amet, consectetur adipiscing elit, sed do eiusmod tempor incididunt ut labore et dolore magna aliqua. Ut enim ad minim veniam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5969417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7226492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Lorem ipsum dolor sit amet, consectetur adipiscing elit, sed do eiusmod tempor incididunt ut labore et dolore magna aliqua. Ut enim ad minim veniam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3831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51360" y="1427685"/>
            <a:ext cx="3807489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51360" y="2684759"/>
            <a:ext cx="6084508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Lorem ipsum dolor sit amet, consectetur adipiscing elit, sed do eiusmod tempor incididunt ut labore et dolore magna aliqua. Ut enim ad minim veniam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02</a:t>
            </a:r>
          </a:p>
        </p:txBody>
      </p:sp>
      <p:sp>
        <p:nvSpPr>
          <p:cNvPr name="AutoShape 5" id="5"/>
          <p:cNvSpPr/>
          <p:nvPr/>
        </p:nvSpPr>
        <p:spPr>
          <a:xfrm>
            <a:off x="4474115" y="1459321"/>
            <a:ext cx="0" cy="2888503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2100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0950" y="0"/>
            <a:ext cx="11019046" cy="10454710"/>
            <a:chOff x="0" y="0"/>
            <a:chExt cx="2902136" cy="2753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02136" cy="2753504"/>
            </a:xfrm>
            <a:custGeom>
              <a:avLst/>
              <a:gdLst/>
              <a:ahLst/>
              <a:cxnLst/>
              <a:rect r="r" b="b" t="t" l="l"/>
              <a:pathLst>
                <a:path h="2753504" w="2902136">
                  <a:moveTo>
                    <a:pt x="0" y="0"/>
                  </a:moveTo>
                  <a:lnTo>
                    <a:pt x="2902136" y="0"/>
                  </a:lnTo>
                  <a:lnTo>
                    <a:pt x="2902136" y="2753504"/>
                  </a:lnTo>
                  <a:lnTo>
                    <a:pt x="0" y="27535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02136" cy="2791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58574" y="5019675"/>
            <a:ext cx="5069008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Prototype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8574" y="1106149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6127" y="1028700"/>
            <a:ext cx="12352120" cy="8229600"/>
          </a:xfrm>
          <a:custGeom>
            <a:avLst/>
            <a:gdLst/>
            <a:ahLst/>
            <a:cxnLst/>
            <a:rect r="r" b="b" t="t" l="l"/>
            <a:pathLst>
              <a:path h="8229600" w="12352120">
                <a:moveTo>
                  <a:pt x="0" y="0"/>
                </a:moveTo>
                <a:lnTo>
                  <a:pt x="12352120" y="0"/>
                </a:lnTo>
                <a:lnTo>
                  <a:pt x="123521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705918"/>
            <a:ext cx="1042755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 Market &amp; Market Fit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Lorem ipsum dolor sit amet, consectetur adipiscing elit, sed do eiusmod tempor incididunt ut labore et dolore magna aliqua. Ut enim ad minim veniam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32999" y="6876661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37323" y="3006112"/>
            <a:ext cx="3598408" cy="292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Lorem ipsum dolor sit amet, consectetur adipiscing elit, sed do eiusmod tempor incididunt ut labore et dolore magna aliqua. Ut enim ad minim veniam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49421" y="0"/>
            <a:ext cx="9510482" cy="10287000"/>
            <a:chOff x="0" y="0"/>
            <a:chExt cx="250481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0481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0481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49421" y="0"/>
            <a:ext cx="9510482" cy="4603171"/>
            <a:chOff x="0" y="0"/>
            <a:chExt cx="2504818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4818" cy="1212358"/>
            </a:xfrm>
            <a:custGeom>
              <a:avLst/>
              <a:gdLst/>
              <a:ahLst/>
              <a:cxnLst/>
              <a:rect r="r" b="b" t="t" l="l"/>
              <a:pathLst>
                <a:path h="1212358" w="2504818">
                  <a:moveTo>
                    <a:pt x="0" y="0"/>
                  </a:moveTo>
                  <a:lnTo>
                    <a:pt x="2504818" y="0"/>
                  </a:lnTo>
                  <a:lnTo>
                    <a:pt x="2504818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504818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 rot="5400000">
            <a:off x="1458574" y="5195889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1458574" y="5095875"/>
            <a:ext cx="5836233" cy="0"/>
          </a:xfrm>
          <a:prstGeom prst="line">
            <a:avLst/>
          </a:prstGeom>
          <a:ln cap="flat" w="47625">
            <a:solidFill>
              <a:srgbClr val="2100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2031068" y="3082871"/>
            <a:ext cx="1639167" cy="1372803"/>
          </a:xfrm>
          <a:custGeom>
            <a:avLst/>
            <a:gdLst/>
            <a:ahLst/>
            <a:cxnLst/>
            <a:rect r="r" b="b" t="t" l="l"/>
            <a:pathLst>
              <a:path h="1372803" w="1639167">
                <a:moveTo>
                  <a:pt x="0" y="0"/>
                </a:moveTo>
                <a:lnTo>
                  <a:pt x="1639167" y="0"/>
                </a:lnTo>
                <a:lnTo>
                  <a:pt x="1639167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92820" y="3082871"/>
            <a:ext cx="1350495" cy="1372803"/>
          </a:xfrm>
          <a:custGeom>
            <a:avLst/>
            <a:gdLst/>
            <a:ahLst/>
            <a:cxnLst/>
            <a:rect r="r" b="b" t="t" l="l"/>
            <a:pathLst>
              <a:path h="1372803" w="1350495">
                <a:moveTo>
                  <a:pt x="0" y="0"/>
                </a:moveTo>
                <a:lnTo>
                  <a:pt x="1350495" y="0"/>
                </a:lnTo>
                <a:lnTo>
                  <a:pt x="1350495" y="1372803"/>
                </a:lnTo>
                <a:lnTo>
                  <a:pt x="0" y="1372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31068" y="6142223"/>
            <a:ext cx="1639167" cy="1317481"/>
          </a:xfrm>
          <a:custGeom>
            <a:avLst/>
            <a:gdLst/>
            <a:ahLst/>
            <a:cxnLst/>
            <a:rect r="r" b="b" t="t" l="l"/>
            <a:pathLst>
              <a:path h="1317481" w="1639167">
                <a:moveTo>
                  <a:pt x="0" y="0"/>
                </a:moveTo>
                <a:lnTo>
                  <a:pt x="1639167" y="0"/>
                </a:lnTo>
                <a:lnTo>
                  <a:pt x="1639167" y="1317481"/>
                </a:lnTo>
                <a:lnTo>
                  <a:pt x="0" y="13174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92820" y="6189253"/>
            <a:ext cx="1350495" cy="1350495"/>
          </a:xfrm>
          <a:custGeom>
            <a:avLst/>
            <a:gdLst/>
            <a:ahLst/>
            <a:cxnLst/>
            <a:rect r="r" b="b" t="t" l="l"/>
            <a:pathLst>
              <a:path h="1350495" w="1350495">
                <a:moveTo>
                  <a:pt x="0" y="0"/>
                </a:moveTo>
                <a:lnTo>
                  <a:pt x="1350495" y="0"/>
                </a:lnTo>
                <a:lnTo>
                  <a:pt x="1350495" y="1350494"/>
                </a:lnTo>
                <a:lnTo>
                  <a:pt x="0" y="13504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58937" y="5019675"/>
            <a:ext cx="4728598" cy="212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Market Competition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58937" y="7492122"/>
            <a:ext cx="7470489" cy="124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Lorem ipsum dolor sit amet, consectetur adipiscing elit, sed do eiusmod tempor incididunt ut labore et dolore magna aliqua. Ut enim ad minim veniam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58937" y="1100962"/>
            <a:ext cx="414394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311187" cy="10287000"/>
            <a:chOff x="0" y="0"/>
            <a:chExt cx="2188955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895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8895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8311187" cy="4603171"/>
            <a:chOff x="0" y="0"/>
            <a:chExt cx="2188955" cy="1212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8955" cy="1212358"/>
            </a:xfrm>
            <a:custGeom>
              <a:avLst/>
              <a:gdLst/>
              <a:ahLst/>
              <a:cxnLst/>
              <a:rect r="r" b="b" t="t" l="l"/>
              <a:pathLst>
                <a:path h="1212358" w="2188955">
                  <a:moveTo>
                    <a:pt x="0" y="0"/>
                  </a:moveTo>
                  <a:lnTo>
                    <a:pt x="2188955" y="0"/>
                  </a:lnTo>
                  <a:lnTo>
                    <a:pt x="2188955" y="1212358"/>
                  </a:lnTo>
                  <a:lnTo>
                    <a:pt x="0" y="121235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88955" cy="12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9426" y="0"/>
            <a:ext cx="1458574" cy="10287000"/>
            <a:chOff x="0" y="0"/>
            <a:chExt cx="384151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4151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4151">
                  <a:moveTo>
                    <a:pt x="0" y="0"/>
                  </a:moveTo>
                  <a:lnTo>
                    <a:pt x="384151" y="0"/>
                  </a:lnTo>
                  <a:lnTo>
                    <a:pt x="38415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84151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482679" y="1076325"/>
            <a:ext cx="3932616" cy="173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0"/>
              </a:lnSpc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Marketing Strategy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82679" y="3480435"/>
            <a:ext cx="637343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Lorem ipsum dolor sit amet, consectetur adipiscing elit, sed do eiusmod tempor incididunt ut labore et dolore magna aliqua. Ut enim ad minim veniam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58574" y="1100962"/>
            <a:ext cx="3739122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050986" y="898345"/>
            <a:ext cx="9107498" cy="3109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54"/>
              </a:lnSpc>
            </a:pPr>
            <a:r>
              <a:rPr lang="en-US" sz="13510">
                <a:solidFill>
                  <a:srgbClr val="FFFFFF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Revenue Model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050986" y="5095875"/>
            <a:ext cx="6259403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Arial Nova"/>
                <a:ea typeface="Arial Nova"/>
                <a:cs typeface="Arial Nova"/>
                <a:sym typeface="Arial Nova"/>
              </a:rPr>
              <a:t>Lorem ipsum dolor sit amet, consectetur adipiscing elit, sed do eiusmod tempor incididunt ut labore et dolore magna aliqua. Ut enim ad minim veniam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13358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Startup costs</a:t>
            </a:r>
          </a:p>
        </p:txBody>
      </p:sp>
      <p:sp>
        <p:nvSpPr>
          <p:cNvPr name="Freeform 3" id="3"/>
          <p:cNvSpPr/>
          <p:nvPr/>
        </p:nvSpPr>
        <p:spPr>
          <a:xfrm flipH="true" flipV="true" rot="-5909349">
            <a:off x="-4840687" y="7999725"/>
            <a:ext cx="12789569" cy="10394432"/>
          </a:xfrm>
          <a:custGeom>
            <a:avLst/>
            <a:gdLst/>
            <a:ahLst/>
            <a:cxnLst/>
            <a:rect r="r" b="b" t="t" l="l"/>
            <a:pathLst>
              <a:path h="10394432" w="12789569">
                <a:moveTo>
                  <a:pt x="12789569" y="10394432"/>
                </a:moveTo>
                <a:lnTo>
                  <a:pt x="0" y="10394432"/>
                </a:lnTo>
                <a:lnTo>
                  <a:pt x="0" y="0"/>
                </a:lnTo>
                <a:lnTo>
                  <a:pt x="12789569" y="0"/>
                </a:lnTo>
                <a:lnTo>
                  <a:pt x="12789569" y="10394432"/>
                </a:lnTo>
                <a:close/>
              </a:path>
            </a:pathLst>
          </a:custGeom>
          <a:blipFill>
            <a:blip r:embed="rId2">
              <a:alphaModFix amt="1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673643" y="2741835"/>
          <a:ext cx="8053852" cy="7058025"/>
        </p:xfrm>
        <a:graphic>
          <a:graphicData uri="http://schemas.openxmlformats.org/drawingml/2006/table">
            <a:tbl>
              <a:tblPr/>
              <a:tblGrid>
                <a:gridCol w="5165293"/>
                <a:gridCol w="2888559"/>
              </a:tblGrid>
              <a:tr h="10725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  CAPEX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  Costs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3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3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3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3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400414" y="2741835"/>
          <a:ext cx="8053852" cy="7058025"/>
        </p:xfrm>
        <a:graphic>
          <a:graphicData uri="http://schemas.openxmlformats.org/drawingml/2006/table">
            <a:tbl>
              <a:tblPr/>
              <a:tblGrid>
                <a:gridCol w="5165293"/>
                <a:gridCol w="2888559"/>
              </a:tblGrid>
              <a:tr h="10725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OPEX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479"/>
                        </a:lnSpc>
                        <a:defRPr/>
                      </a:pPr>
                      <a:r>
                        <a:rPr lang="en-US" sz="3199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  Costs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07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3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3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3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036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2857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77415" y="1734033"/>
          <a:ext cx="12194003" cy="7887100"/>
        </p:xfrm>
        <a:graphic>
          <a:graphicData uri="http://schemas.openxmlformats.org/drawingml/2006/table">
            <a:tbl>
              <a:tblPr/>
              <a:tblGrid>
                <a:gridCol w="2032334"/>
                <a:gridCol w="2032334"/>
                <a:gridCol w="2032334"/>
                <a:gridCol w="2032334"/>
                <a:gridCol w="2032334"/>
                <a:gridCol w="2032334"/>
              </a:tblGrid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r>
                        <a:rPr lang="en-US" sz="1642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Sales Units 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r>
                        <a:rPr lang="en-US" sz="1642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Year 1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r>
                        <a:rPr lang="en-US" sz="1642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Year 2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r>
                        <a:rPr lang="en-US" sz="1642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Year 3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r>
                        <a:rPr lang="en-US" sz="1642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Year 4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r>
                        <a:rPr lang="en-US" sz="1642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Year 5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C3CF"/>
                    </a:solidFill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364"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2299"/>
                        </a:lnSpc>
                        <a:defRPr/>
                      </a:pPr>
                      <a:r>
                        <a:rPr lang="en-US" sz="1642">
                          <a:solidFill>
                            <a:srgbClr val="000000"/>
                          </a:solidFill>
                          <a:latin typeface="Arial Nova"/>
                          <a:ea typeface="Arial Nova"/>
                          <a:cs typeface="Arial Nova"/>
                          <a:sym typeface="Arial Nova"/>
                        </a:rPr>
                        <a:t>Total</a:t>
                      </a: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99"/>
                        </a:lnSpc>
                        <a:defRPr/>
                      </a:pPr>
                      <a:endParaRPr lang="en-US" sz="1100"/>
                    </a:p>
                  </a:txBody>
                  <a:tcPr marL="57150" marR="57150" marT="57150" marB="57150" anchor="ctr">
                    <a:lnL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2100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3" id="3"/>
          <p:cNvGrpSpPr/>
          <p:nvPr/>
        </p:nvGrpSpPr>
        <p:grpSpPr>
          <a:xfrm rot="0">
            <a:off x="14192432" y="5294157"/>
            <a:ext cx="3275492" cy="845483"/>
            <a:chOff x="0" y="0"/>
            <a:chExt cx="862681" cy="22267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2681" cy="222679"/>
            </a:xfrm>
            <a:custGeom>
              <a:avLst/>
              <a:gdLst/>
              <a:ahLst/>
              <a:cxnLst/>
              <a:rect r="r" b="b" t="t" l="l"/>
              <a:pathLst>
                <a:path h="222679" w="862681">
                  <a:moveTo>
                    <a:pt x="0" y="0"/>
                  </a:moveTo>
                  <a:lnTo>
                    <a:pt x="862681" y="0"/>
                  </a:lnTo>
                  <a:lnTo>
                    <a:pt x="862681" y="222679"/>
                  </a:lnTo>
                  <a:lnTo>
                    <a:pt x="0" y="222679"/>
                  </a:lnTo>
                  <a:close/>
                </a:path>
              </a:pathLst>
            </a:custGeom>
            <a:solidFill>
              <a:srgbClr val="2100C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62681" cy="260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77415" y="312621"/>
            <a:ext cx="12398640" cy="106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2"/>
              </a:lnSpc>
            </a:pPr>
            <a:r>
              <a:rPr lang="en-US" sz="6912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Financial Projections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044297" y="3853006"/>
            <a:ext cx="3571761" cy="45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0"/>
              </a:lnSpc>
            </a:pPr>
            <a:r>
              <a:rPr lang="en-US" sz="3264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break-even point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29063" cy="10287000"/>
            <a:chOff x="0" y="0"/>
            <a:chExt cx="11905417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6536" t="0" r="12812" b="0"/>
            <a:stretch>
              <a:fillRect/>
            </a:stretch>
          </p:blipFill>
          <p:spPr>
            <a:xfrm flipH="false" flipV="false">
              <a:off x="0" y="0"/>
              <a:ext cx="11905417" cy="13716000"/>
            </a:xfrm>
            <a:prstGeom prst="rect">
              <a:avLst/>
            </a:prstGeom>
          </p:spPr>
        </p:pic>
      </p:grpSp>
      <p:sp>
        <p:nvSpPr>
          <p:cNvPr name="TextBox 4" id="4"/>
          <p:cNvSpPr txBox="true"/>
          <p:nvPr/>
        </p:nvSpPr>
        <p:spPr>
          <a:xfrm rot="0">
            <a:off x="9589924" y="4162869"/>
            <a:ext cx="8214463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39"/>
              </a:lnSpc>
              <a:spcBef>
                <a:spcPct val="0"/>
              </a:spcBef>
            </a:pPr>
            <a:r>
              <a:rPr lang="en-US" sz="60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Future Developments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89924" y="5552948"/>
            <a:ext cx="6024436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Arial Nova"/>
                <a:ea typeface="Arial Nova"/>
                <a:cs typeface="Arial Nova"/>
                <a:sym typeface="Arial Nova"/>
              </a:rPr>
              <a:t>Lorem ipsum dolor sit amet, consectetur adipiscing elit, sed do eiusmod tempor incididunt ut labore et dolore magna aliqua. Ut enim ad minim veniam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89924" y="1045018"/>
            <a:ext cx="4348354" cy="3241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9"/>
              </a:lnSpc>
              <a:spcBef>
                <a:spcPct val="0"/>
              </a:spcBef>
            </a:pPr>
            <a:r>
              <a:rPr lang="en-US" sz="18999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l="0" t="-18555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51802" y="3500001"/>
            <a:ext cx="9107498" cy="23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4"/>
              </a:lnSpc>
              <a:spcBef>
                <a:spcPct val="0"/>
              </a:spcBef>
            </a:pPr>
            <a:r>
              <a:rPr lang="en-US" sz="13510">
                <a:solidFill>
                  <a:srgbClr val="120202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3688072">
            <a:off x="-6970011" y="-3262037"/>
            <a:ext cx="12318385" cy="10638606"/>
          </a:xfrm>
          <a:custGeom>
            <a:avLst/>
            <a:gdLst/>
            <a:ahLst/>
            <a:cxnLst/>
            <a:rect r="r" b="b" t="t" l="l"/>
            <a:pathLst>
              <a:path h="10638606" w="12318385">
                <a:moveTo>
                  <a:pt x="0" y="0"/>
                </a:moveTo>
                <a:lnTo>
                  <a:pt x="12318386" y="0"/>
                </a:lnTo>
                <a:lnTo>
                  <a:pt x="12318386" y="10638605"/>
                </a:lnTo>
                <a:lnTo>
                  <a:pt x="0" y="10638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213610">
            <a:off x="1739501" y="6931719"/>
            <a:ext cx="8218320" cy="7097640"/>
          </a:xfrm>
          <a:custGeom>
            <a:avLst/>
            <a:gdLst/>
            <a:ahLst/>
            <a:cxnLst/>
            <a:rect r="r" b="b" t="t" l="l"/>
            <a:pathLst>
              <a:path h="7097640" w="8218320">
                <a:moveTo>
                  <a:pt x="0" y="0"/>
                </a:moveTo>
                <a:lnTo>
                  <a:pt x="8218320" y="0"/>
                </a:lnTo>
                <a:lnTo>
                  <a:pt x="8218320" y="7097640"/>
                </a:lnTo>
                <a:lnTo>
                  <a:pt x="0" y="70976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DAGuD_pp2e8</dc:identifier>
  <dcterms:modified xsi:type="dcterms:W3CDTF">2011-08-01T06:04:30Z</dcterms:modified>
  <cp:revision>1</cp:revision>
  <dc:title>Example Pitch Deck 7</dc:title>
</cp:coreProperties>
</file>